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72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5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84767" autoAdjust="0"/>
  </p:normalViewPr>
  <p:slideViewPr>
    <p:cSldViewPr snapToGrid="0" snapToObjects="1">
      <p:cViewPr varScale="1">
        <p:scale>
          <a:sx n="76" d="100"/>
          <a:sy n="76" d="100"/>
        </p:scale>
        <p:origin x="741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145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Добар дан, ја сам Јован Јокић.</a:t>
            </a:r>
          </a:p>
          <a:p>
            <a:r>
              <a:rPr lang="ru-RU" dirty="0"/>
              <a:t>• Рад се бави праћењем порекла одлука у системима са више агената и повезивањем тог трага са европском регулативом.</a:t>
            </a:r>
          </a:p>
          <a:p>
            <a:r>
              <a:rPr lang="ru-RU" dirty="0"/>
              <a:t>• Кренућемо од проблема, затим проћи кроз предложено решење и пример имплементације, и на крају доћи до цене и ограничења.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Овде видимо пример тока извршавања истраживачког асистента: први агент претражује веб помоћу алата, други сажима пронађени садржај, трећи пише</a:t>
            </a:r>
            <a:r>
              <a:rPr lang="en-US" dirty="0"/>
              <a:t> </a:t>
            </a:r>
            <a:r>
              <a:rPr lang="ru-RU" dirty="0"/>
              <a:t>извештај, а човек га на крају прегледа.</a:t>
            </a:r>
          </a:p>
          <a:p>
            <a:r>
              <a:rPr lang="ru-RU" dirty="0"/>
              <a:t>• Ако готов извештај садржи грешку, тешко је утврдити да ли потиче из нацрта, из прегледа или ју је унела људска измена.</a:t>
            </a:r>
          </a:p>
          <a:p>
            <a:r>
              <a:rPr lang="ru-RU" dirty="0"/>
              <a:t>• Логови </a:t>
            </a:r>
            <a:r>
              <a:rPr lang="ru-RU"/>
              <a:t>појединачних компоненти </a:t>
            </a:r>
            <a:r>
              <a:rPr lang="ru-RU" dirty="0"/>
              <a:t>обично постоје, али нису повезани у стандардизовану целину, па се до тог одговора тешко долази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Од недавно је ово и правно питање. ЕУ уводи Акт о вештачкој интелигенцији 2024.</a:t>
            </a:r>
          </a:p>
          <a:p>
            <a:r>
              <a:rPr lang="ru-RU" dirty="0"/>
              <a:t>• Он прописује доста обавеза, али се само приказани чланови могу испунити помоћу трага извршавања. Они редом прописују аутоматско бележење догађаја</a:t>
            </a:r>
            <a:r>
              <a:rPr lang="sr-Latn-RS" dirty="0"/>
              <a:t>, </a:t>
            </a:r>
            <a:r>
              <a:rPr lang="ru-RU" dirty="0"/>
              <a:t>делотворан  људски надзор (човек мора моћи да измени и поништи излаз) и транспарентност према кориснику.</a:t>
            </a:r>
          </a:p>
          <a:p>
            <a:r>
              <a:rPr lang="ru-RU" dirty="0"/>
              <a:t>• Акт не даје техничку спецификацију, већ само говори шта треба да постоји, и ту наступа овај рад.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Слична питања су се већ постављала, а у овој табели видимо нека од понуђених решења</a:t>
            </a:r>
            <a:r>
              <a:rPr lang="ru-RU" dirty="0"/>
              <a:t>. 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• PROV-AGENT - најближи рад, добро покрива аутоматизовани део, али не подржава људски надзор ни мапирање на регулативу.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Овде видимо четири типа записа који покривају цео ток извршавања, а сваки је дефинисан JSON шемом са обавезним пољима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Прва два, корак агента и позив алата, покривају аутоматизовани део тока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Трећи је људска интервенција и о њему говори следећи слајд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  <a:p>
            <a:r>
              <a:rPr lang="ru-RU" dirty="0"/>
              <a:t>• Четврти је пакет који обједињује све записе и носи печат интегритета.</a:t>
            </a:r>
          </a:p>
          <a:p>
            <a:r>
              <a:rPr lang="ru-RU" dirty="0"/>
              <a:t>• Сви чувају само SHA-256 хешеве, не сиров текст.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Главни допринос рада је у томе што људска одлука постаје запис, исто као корак модела.</a:t>
            </a:r>
          </a:p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том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запису стоје хеш излаза пре одлуке и хеш излаза после одлуке. Ако је излаз само одобрен, оба хеша су иста. Ако је мењан, хешеви се разликују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ru-RU" dirty="0"/>
              <a:t> </a:t>
            </a:r>
          </a:p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Рецензената може бити и више, јер за биометријске системе Акт тражи потврду две особе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Чланови 12, 14 и 50 разложени су на техничке захтеве, па је за сваки тражено поље које га испуњава. Ако оно није постојало, шема је допуњена. </a:t>
            </a:r>
          </a:p>
          <a:p>
            <a:r>
              <a:rPr lang="ru-RU" dirty="0"/>
              <a:t>• То је био итеративан процес, након којег је настала мапа поља протокола и клаузула која нам омогућава генерисање </a:t>
            </a:r>
            <a:r>
              <a:rPr lang="sr-Latn-RS" dirty="0"/>
              <a:t>PDF </a:t>
            </a:r>
            <a:r>
              <a:rPr lang="ru-RU" dirty="0"/>
              <a:t>извештаја усклађености за било који пакет (приказ скраћен, пуна табела има 16 поља).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Две битне одлуке су донете приликом израде овог протокола а то су:</a:t>
            </a:r>
          </a:p>
          <a:p>
            <a:r>
              <a:rPr lang="ru-RU" dirty="0"/>
              <a:t>• Записи носе само хешеве - сиров текст се теже брани под ГДПР-ом; садржај остаје у складишту окружења.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Кад дође до спора, окружење га 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добавља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хешира и пореди са оним што стоји у пакету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dirty="0"/>
          </a:p>
          <a:p>
            <a:r>
              <a:rPr lang="ru-RU" dirty="0"/>
              <a:t>• Канонизација JSON-а по стандарду RFC 8785 гарантује да исти садржај увек даје исти низ бајтова, па независни верификатор долази до истог печата бајт по бајт.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</a:t>
            </a:r>
            <a:r>
              <a:rPr lang="sr-Cyrl-RS" dirty="0"/>
              <a:t> До сада смо причали о изгледу самог протокола, а сада ћемо видети како изгледа пример конкретне имплементације.</a:t>
            </a:r>
            <a:endParaRPr lang="en-US" dirty="0"/>
          </a:p>
          <a:p>
            <a:r>
              <a:rPr lang="ru-RU" dirty="0"/>
              <a:t>• Имплементирана библиотека се састоји од основних и опционих пакета.</a:t>
            </a:r>
          </a:p>
          <a:p>
            <a:r>
              <a:rPr lang="ru-RU" dirty="0"/>
              <a:t>• </a:t>
            </a:r>
            <a:r>
              <a:rPr lang="sr-Cyrl-RS" dirty="0"/>
              <a:t>Основни део чине</a:t>
            </a:r>
            <a:r>
              <a:rPr lang="ru-RU" dirty="0"/>
              <a:t> језгро (шеме, записе, валидацију и печат), верификатор пакета и дневник отпоран на пад процеса.</a:t>
            </a:r>
          </a:p>
          <a:p>
            <a:r>
              <a:rPr lang="ru-RU" dirty="0"/>
              <a:t>• Док у опционе додатке спадају </a:t>
            </a:r>
            <a:r>
              <a:rPr lang="sr-Cyrl-RS" dirty="0"/>
              <a:t>адаптери (тренутно само </a:t>
            </a:r>
            <a:r>
              <a:rPr lang="ru-RU" dirty="0"/>
              <a:t>за </a:t>
            </a:r>
            <a:r>
              <a:rPr lang="sr-Latn-RS" dirty="0"/>
              <a:t>LangGraph</a:t>
            </a:r>
            <a:r>
              <a:rPr lang="sr-Cyrl-RS" dirty="0"/>
              <a:t> оквир),</a:t>
            </a:r>
            <a:r>
              <a:rPr lang="ru-RU" dirty="0"/>
              <a:t> генератор </a:t>
            </a:r>
            <a:r>
              <a:rPr lang="sr-Latn-RS" dirty="0"/>
              <a:t>PDF </a:t>
            </a:r>
            <a:r>
              <a:rPr lang="ru-RU" dirty="0"/>
              <a:t>извештаја</a:t>
            </a:r>
            <a:r>
              <a:rPr lang="en-US" dirty="0"/>
              <a:t> </a:t>
            </a:r>
            <a:r>
              <a:rPr lang="sr-Cyrl-RS" dirty="0"/>
              <a:t>(којег смо видели мало пре) </a:t>
            </a:r>
            <a:r>
              <a:rPr lang="ru-RU" dirty="0"/>
              <a:t>и дигитални потпис (Ed25519), којим се потврђује ауторство над печатом.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Овде видимо како изгледа коришћење малопре поменутог </a:t>
            </a:r>
            <a:r>
              <a:rPr lang="en-US" dirty="0" err="1"/>
              <a:t>LangGraph</a:t>
            </a:r>
            <a:r>
              <a:rPr lang="en-US" dirty="0"/>
              <a:t> </a:t>
            </a:r>
            <a:r>
              <a:rPr lang="ru-RU" dirty="0"/>
              <a:t>адаптера. </a:t>
            </a:r>
            <a:r>
              <a:rPr lang="sr-Cyrl-RS" dirty="0"/>
              <a:t>Он је имплементиран као </a:t>
            </a:r>
            <a:r>
              <a:rPr lang="ru-RU" dirty="0"/>
              <a:t>међуслој који слуша повратне позиве оквира и бележи сваки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позив модела и алата</a:t>
            </a:r>
            <a:r>
              <a:rPr lang="ru-RU" dirty="0"/>
              <a:t>.</a:t>
            </a:r>
          </a:p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Логика чворова се уопште не дира, па кад граф 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промени број чворова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овај код остаје исти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dirty="0"/>
              <a:t>• Људска одлука тражи само две додатне наредбе,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јер се ту бележи ко је одлучио и шта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Са леве стране можемо видети како изгледа један генерисан пакет.</a:t>
            </a:r>
          </a:p>
          <a:p>
            <a:r>
              <a:rPr lang="ru-RU" dirty="0"/>
              <a:t>• У ланцу записа прво видимо корак агента, а затим и људске интервенције. </a:t>
            </a:r>
          </a:p>
          <a:p>
            <a:r>
              <a:rPr lang="ru-RU" dirty="0"/>
              <a:t>• А на дну видимо bundle_hash, односно печат целог </a:t>
            </a:r>
            <a:r>
              <a:rPr lang="sr-Cyrl-RS" dirty="0"/>
              <a:t>пакета</a:t>
            </a:r>
            <a:r>
              <a:rPr lang="ru-RU" dirty="0"/>
              <a:t>.</a:t>
            </a:r>
          </a:p>
          <a:p>
            <a:r>
              <a:rPr lang="ru-RU" dirty="0"/>
              <a:t>• Са десне стране видимо два покретања верификатора над овим пакетом.</a:t>
            </a:r>
          </a:p>
          <a:p>
            <a:r>
              <a:rPr lang="ru-RU" dirty="0"/>
              <a:t>• Први пут пакет није диран и верификација пролази, а други пут смо ручно направили неку измену у низу записа пакета и видимо да након тога верификација пада.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Табела броји колико од двадесет једне клаузуле је покривено; </a:t>
            </a:r>
          </a:p>
          <a:p>
            <a:r>
              <a:rPr lang="ru-RU" dirty="0"/>
              <a:t>• Три делимичне су случај где податак постоји индиректно.</a:t>
            </a:r>
          </a:p>
          <a:p>
            <a:r>
              <a:rPr lang="ru-RU" dirty="0"/>
              <a:t>• Четири ван обима су случајеви где захтев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припада корисничком окружењу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Мерење упоређује исти ток са бележењем и без њега, уз симулирани модел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тако да у резултату остаје само трошак протокола, без чекања на одговор правог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модела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• Трошак расте линеарно: ~0.24ms по кораку агента, ~0.37ms по људској интервенцији. </a:t>
            </a:r>
          </a:p>
          <a:p>
            <a:r>
              <a:rPr lang="ru-RU" dirty="0"/>
              <a:t>• 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Заузеће п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ростор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је 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фиксно,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 осамсто бајтова по запису, јер се чувају хешеви</a:t>
            </a:r>
            <a:r>
              <a:rPr lang="ru-RU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У десној колони већином стоје имена поља и стандарда, а не само „да“, па се свака тврдња може проверити у коду.</a:t>
            </a:r>
          </a:p>
          <a:p>
            <a:r>
              <a:rPr lang="ru-RU" dirty="0"/>
              <a:t>• Последњи ред показује да је подршка за више оквира тамо шира. То је ствар обима ове имплементације, а не ограничење шеме ни језгра, јер је тачка на коју се адаптер качи 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Овде можемо да видимо и нека ограничења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имплементације.</a:t>
            </a:r>
            <a:endParaRPr lang="ru-RU" dirty="0"/>
          </a:p>
          <a:p>
            <a:r>
              <a:rPr lang="ru-RU" dirty="0"/>
              <a:t>• Печат и потпис постоје, али нема регистра који кључ везује за особу нити поузданог времена означавања.</a:t>
            </a:r>
          </a:p>
          <a:p>
            <a:r>
              <a:rPr lang="ru-RU" dirty="0"/>
              <a:t>• Родитељски ланац бележи редослед, не стварну узрочност</a:t>
            </a:r>
            <a:r>
              <a:rPr lang="sr-Cyrl-RS" dirty="0"/>
              <a:t>, што је</a:t>
            </a:r>
            <a:r>
              <a:rPr lang="ru-RU" dirty="0"/>
              <a:t> тачно за секвенцијалне токове, али само приближно тачно </a:t>
            </a:r>
            <a:r>
              <a:rPr lang="sr-Cyrl-RS" dirty="0"/>
              <a:t>за </a:t>
            </a:r>
            <a:r>
              <a:rPr lang="ru-RU" dirty="0"/>
              <a:t>паралелне токове.</a:t>
            </a:r>
          </a:p>
          <a:p>
            <a:r>
              <a:rPr lang="ru-RU" dirty="0"/>
              <a:t>• </a:t>
            </a:r>
            <a:r>
              <a:rPr lang="sr-Cyrl-RS" dirty="0"/>
              <a:t>Тренутно постоји </a:t>
            </a:r>
            <a:r>
              <a:rPr lang="ru-RU" dirty="0"/>
              <a:t>само један упакован адаптер (LangGraph).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• Да сумирамо.</a:t>
            </a:r>
          </a:p>
          <a:p>
            <a:r>
              <a:rPr lang="ru-RU" dirty="0"/>
              <a:t>• Људски надзор је сада првокласан тип записа, са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сопственом шемом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</a:t>
            </a:r>
            <a:r>
              <a:rPr lang="ru-RU" dirty="0"/>
              <a:t>доказом стања пре/после одлуке.</a:t>
            </a:r>
          </a:p>
          <a:p>
            <a:r>
              <a:rPr lang="ru-RU" dirty="0"/>
              <a:t>•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Свако поље показује на клаузулу коју испуњава</a:t>
            </a:r>
            <a:r>
              <a:rPr lang="sr-Cyrl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sr-Latn-R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 се усклађеност може механички проверити</a:t>
            </a:r>
            <a:r>
              <a:rPr lang="ru-RU" dirty="0"/>
              <a:t>.</a:t>
            </a:r>
          </a:p>
          <a:p>
            <a:r>
              <a:rPr lang="ru-RU" dirty="0"/>
              <a:t>• </a:t>
            </a:r>
            <a:r>
              <a:rPr lang="sr-Cyrl-RS" dirty="0"/>
              <a:t>Цена је </a:t>
            </a:r>
            <a:r>
              <a:rPr lang="ru-RU" dirty="0"/>
              <a:t>испод милисекунде и ~800 бајтова по запису.</a:t>
            </a:r>
            <a:endParaRPr lang="en-US" dirty="0"/>
          </a:p>
          <a:p>
            <a:r>
              <a:rPr lang="ru-RU" dirty="0"/>
              <a:t>•</a:t>
            </a:r>
            <a:r>
              <a:rPr lang="en-US" dirty="0"/>
              <a:t> </a:t>
            </a:r>
            <a:r>
              <a:rPr lang="sr-Cyrl-RS" dirty="0"/>
              <a:t>Хвала на пажњи.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10896" y="0"/>
            <a:ext cx="64008" cy="6858000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102412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F3864"/>
                </a:solidFill>
                <a:latin typeface="Segoe UI"/>
              </a:rPr>
              <a:t>Протокол за праћење порекла и регулаторну усклађеност у вишеагентним системима заснованим на великим језичким моделима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9848" y="4224528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F5496"/>
                </a:solidFill>
                <a:latin typeface="Segoe UI"/>
              </a:rPr>
              <a:t>Мастер рад · Софтверско инжењерство и информационе технологије</a:t>
            </a:r>
          </a:p>
          <a:p>
            <a:pPr algn="l">
              <a:spcBef>
                <a:spcPts val="130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</a:rPr>
              <a:t>Студент: Јован Јокић (R2 19/2024) · Ментор: проф. др Александар Ковачевић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Segoe UI"/>
              </a:rPr>
              <a:t>Факултет техничких наука, Нови Сад · 2026.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Одлука више не настаје на једном месту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2</a:t>
            </a:r>
          </a:p>
        </p:txBody>
      </p:sp>
      <p:pic>
        <p:nvPicPr>
          <p:cNvPr id="10" name="Picture 9" descr="fi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807" y="1389888"/>
            <a:ext cx="9784080" cy="33738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964876"/>
            <a:ext cx="10607040" cy="988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74320" indent="-27432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dirty="0">
                <a:solidFill>
                  <a:srgbClr val="C0502E"/>
                </a:solidFill>
                <a:latin typeface="Segoe UI"/>
              </a:rPr>
              <a:t>▪ 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Један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упит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покреће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низ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агената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и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позива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алата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, а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не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један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позив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модела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.</a:t>
            </a:r>
          </a:p>
          <a:p>
            <a:pPr marL="274320" indent="-27432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sz="1450" dirty="0">
                <a:solidFill>
                  <a:srgbClr val="C0502E"/>
                </a:solidFill>
                <a:latin typeface="Segoe UI"/>
              </a:rPr>
              <a:t>▪ 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Тамо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где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одлука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има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последице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, у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тај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низ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се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уграђује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и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људски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преглед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.</a:t>
            </a:r>
          </a:p>
          <a:p>
            <a:pPr marL="274320" indent="-274320" algn="l">
              <a:lnSpc>
                <a:spcPct val="125000"/>
              </a:lnSpc>
              <a:spcBef>
                <a:spcPts val="700"/>
              </a:spcBef>
              <a:spcAft>
                <a:spcPts val="0"/>
              </a:spcAft>
            </a:pPr>
            <a:r>
              <a:rPr sz="1450" dirty="0">
                <a:solidFill>
                  <a:srgbClr val="C0502E"/>
                </a:solidFill>
                <a:latin typeface="Segoe UI"/>
              </a:rPr>
              <a:t>▪ 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Кад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излаз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буде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споран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,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не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постоји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траг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који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показује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шта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је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ко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333D4C"/>
                </a:solidFill>
                <a:latin typeface="Segoe UI"/>
              </a:rPr>
              <a:t>одлучио</a:t>
            </a:r>
            <a:r>
              <a:rPr sz="1450" dirty="0">
                <a:solidFill>
                  <a:srgbClr val="333D4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Акт тражи доказ, али не и његов облик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5A5A5A"/>
                </a:solidFill>
                <a:latin typeface="Segoe UI"/>
              </a:rPr>
              <a:t>Чланови 12 и 14 важе за високоризичне системе, а члан 50 за системе који комуницирају с људима. Акт прописује шта мора постојати, али не и формат записа, шему хеширања ни начин на који се људска одлука бележи.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28800"/>
            <a:ext cx="3044952" cy="3017520"/>
          </a:xfrm>
          <a:prstGeom prst="roundRect">
            <a:avLst>
              <a:gd name="adj" fmla="val 45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044952" cy="6858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69848" y="2176272"/>
            <a:ext cx="248716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 dirty="0" err="1">
                <a:solidFill>
                  <a:srgbClr val="2F5496"/>
                </a:solidFill>
                <a:latin typeface="Segoe UI"/>
              </a:rPr>
              <a:t>Члан</a:t>
            </a:r>
            <a:r>
              <a:rPr sz="2200" b="1" i="0" dirty="0">
                <a:solidFill>
                  <a:srgbClr val="2F5496"/>
                </a:solidFill>
                <a:latin typeface="Segoe UI"/>
              </a:rPr>
              <a:t> 12</a:t>
            </a:r>
          </a:p>
          <a:p>
            <a:pPr algn="l">
              <a:lnSpc>
                <a:spcPct val="132000"/>
              </a:lnSpc>
              <a:spcBef>
                <a:spcPts val="1400"/>
              </a:spcBef>
              <a:spcAft>
                <a:spcPts val="0"/>
              </a:spcAft>
            </a:pPr>
            <a:r>
              <a:rPr sz="1400" i="0" dirty="0" err="1">
                <a:solidFill>
                  <a:srgbClr val="333D4C"/>
                </a:solidFill>
                <a:latin typeface="Segoe UI"/>
              </a:rPr>
              <a:t>вођење</a:t>
            </a:r>
            <a:r>
              <a:rPr sz="140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i="0" dirty="0" err="1">
                <a:solidFill>
                  <a:srgbClr val="333D4C"/>
                </a:solidFill>
                <a:latin typeface="Segoe UI"/>
              </a:rPr>
              <a:t>евиденције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: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систем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мора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аутоматски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бележити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догађаје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током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свог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рада</a:t>
            </a:r>
            <a:endParaRPr sz="1400" b="0" i="0" dirty="0">
              <a:solidFill>
                <a:srgbClr val="333D4C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69848" y="4005072"/>
            <a:ext cx="2459736" cy="10972"/>
          </a:xfrm>
          <a:prstGeom prst="rect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69848" y="4151376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C96A5"/>
                </a:solidFill>
                <a:latin typeface="Segoe UI"/>
              </a:rPr>
              <a:t>траг мора настати сам, током целог животног века система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828800"/>
            <a:ext cx="3044952" cy="3017520"/>
          </a:xfrm>
          <a:prstGeom prst="roundRect">
            <a:avLst>
              <a:gd name="adj" fmla="val 45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1828800"/>
            <a:ext cx="3044952" cy="6858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8" y="2176272"/>
            <a:ext cx="248716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5496"/>
                </a:solidFill>
                <a:latin typeface="Segoe UI"/>
              </a:rPr>
              <a:t>Члан 14</a:t>
            </a:r>
          </a:p>
          <a:p>
            <a:pPr algn="l">
              <a:lnSpc>
                <a:spcPct val="132000"/>
              </a:lnSpc>
              <a:spcBef>
                <a:spcPts val="1400"/>
              </a:spcBef>
              <a:spcAft>
                <a:spcPts val="0"/>
              </a:spcAft>
            </a:pPr>
            <a:r>
              <a:rPr sz="1400" b="0" i="0">
                <a:solidFill>
                  <a:srgbClr val="333D4C"/>
                </a:solidFill>
                <a:latin typeface="Segoe UI"/>
              </a:rPr>
              <a:t>људски надзор: овлашћено лице мора моћи да разуме, занемари, измени или поништи излаз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64608" y="4005072"/>
            <a:ext cx="2459736" cy="10972"/>
          </a:xfrm>
          <a:prstGeom prst="rect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4151376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C96A5"/>
                </a:solidFill>
                <a:latin typeface="Segoe UI"/>
              </a:rPr>
              <a:t>надзор мора бити делотворан, а не формалан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66760" y="1828800"/>
            <a:ext cx="3044952" cy="3017520"/>
          </a:xfrm>
          <a:prstGeom prst="roundRect">
            <a:avLst>
              <a:gd name="adj" fmla="val 45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66760" y="1828800"/>
            <a:ext cx="3044952" cy="6858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59368" y="2176272"/>
            <a:ext cx="2487168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5496"/>
                </a:solidFill>
                <a:latin typeface="Segoe UI"/>
              </a:rPr>
              <a:t>Члан 50</a:t>
            </a:r>
          </a:p>
          <a:p>
            <a:pPr algn="l">
              <a:lnSpc>
                <a:spcPct val="132000"/>
              </a:lnSpc>
              <a:spcBef>
                <a:spcPts val="1400"/>
              </a:spcBef>
              <a:spcAft>
                <a:spcPts val="0"/>
              </a:spcAft>
            </a:pPr>
            <a:r>
              <a:rPr sz="1400" b="0" i="0">
                <a:solidFill>
                  <a:srgbClr val="333D4C"/>
                </a:solidFill>
                <a:latin typeface="Segoe UI"/>
              </a:rPr>
              <a:t>транспарентност: корисник мора знати да комуницира са системом вештачке интелигенције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59368" y="4005072"/>
            <a:ext cx="2459736" cy="10972"/>
          </a:xfrm>
          <a:prstGeom prst="rect">
            <a:avLst/>
          </a:prstGeom>
          <a:solidFill>
            <a:srgbClr val="D6DE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59368" y="4151376"/>
            <a:ext cx="248716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8C96A5"/>
                </a:solidFill>
                <a:latin typeface="Segoe UI"/>
              </a:rPr>
              <a:t>обавештење мора стићи најкасније при првој интеракцији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Шта постојећи стандарди већ покривају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Аутоматизовани део је покривен добро. Ред са људским надзором остаје празан код сва три стандарда.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202669"/>
              </p:ext>
            </p:extLst>
          </p:nvPr>
        </p:nvGraphicFramePr>
        <p:xfrm>
          <a:off x="777240" y="1691640"/>
          <a:ext cx="10607040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Захтев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W3C PROV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C2PA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PROV-AGENT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Овај протокол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Аутоматизовани кораци агента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C0502E"/>
                          </a:solidFill>
                          <a:latin typeface="Segoe UI"/>
                        </a:rPr>
                        <a:t>делимично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  <a:endParaRPr sz="1250" b="1" dirty="0">
                        <a:solidFill>
                          <a:srgbClr val="2F5496"/>
                        </a:solidFill>
                        <a:latin typeface="Segoe UI"/>
                      </a:endParaRP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Запис о људском надзору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  <a:endParaRPr sz="1250" b="0" dirty="0">
                        <a:solidFill>
                          <a:srgbClr val="8C96A5"/>
                        </a:solidFill>
                        <a:latin typeface="Segoe UI"/>
                      </a:endParaRP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Мапирање на клаузуле Акта ЕУ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Хеширање садржаја уместо сировог текста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Печат интегритета целог тока обраде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C0502E"/>
                          </a:solidFill>
                          <a:latin typeface="Segoe UI"/>
                        </a:rPr>
                        <a:t>делимично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dirty="0" err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  <a:endParaRPr sz="1250" b="1" dirty="0">
                        <a:solidFill>
                          <a:srgbClr val="2F5496"/>
                        </a:solidFill>
                        <a:latin typeface="Segoe UI"/>
                      </a:endParaRP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Четири типа записа покривају цео ток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Рад за сваки тип предлаже JSON шему, независну од радног оквира, која се верзионише и валидира.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5</a:t>
            </a:r>
          </a:p>
        </p:txBody>
      </p:sp>
      <p:pic>
        <p:nvPicPr>
          <p:cNvPr id="11" name="Picture 10" descr="fig_reco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6847" y="1481328"/>
            <a:ext cx="6858000" cy="41817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Људска одлука постаје запис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Стање пре и стање после исте одлуке, у истом запису. То не бележи ниједан од разматраних стандарда порекла.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965960"/>
            <a:ext cx="2926080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67712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3864"/>
                </a:solidFill>
                <a:latin typeface="Segoe UI"/>
              </a:rPr>
              <a:t>излаз пре прегледа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10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5496"/>
                </a:solidFill>
                <a:latin typeface="Consolas"/>
              </a:rPr>
              <a:t>output_before_hash · a3f91c…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965960"/>
            <a:ext cx="2926080" cy="1234440"/>
          </a:xfrm>
          <a:prstGeom prst="roundRect">
            <a:avLst>
              <a:gd name="adj" fmla="val 8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00600" y="2267712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рецензент · action_type = edited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310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0502E"/>
                </a:solidFill>
                <a:latin typeface="Consolas"/>
              </a:rPr>
              <a:t>intervention_timestamp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965960"/>
            <a:ext cx="2926080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59" y="2267712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3864"/>
                </a:solidFill>
                <a:latin typeface="Segoe UI"/>
              </a:rPr>
              <a:t>излаз после одлуке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31012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F5496"/>
                </a:solidFill>
                <a:latin typeface="Consolas"/>
              </a:rPr>
              <a:t>output_after_hash · 7c214e…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13632" y="2450592"/>
            <a:ext cx="548640" cy="274320"/>
          </a:xfrm>
          <a:prstGeom prst="rightArrow">
            <a:avLst/>
          </a:prstGeom>
          <a:solidFill>
            <a:srgbClr val="A9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708392" y="2450592"/>
            <a:ext cx="548640" cy="274320"/>
          </a:xfrm>
          <a:prstGeom prst="rightArrow">
            <a:avLst/>
          </a:prstGeom>
          <a:solidFill>
            <a:srgbClr val="A9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041648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224528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96A5"/>
                </a:solidFill>
                <a:latin typeface="Segoe UI"/>
              </a:rPr>
              <a:t>Шема записа, обавезна поља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00" b="0" i="0">
                <a:solidFill>
                  <a:srgbClr val="1F3864"/>
                </a:solidFill>
                <a:latin typeface="Consolas"/>
              </a:rPr>
              <a:t>reviewer_id[] · action_type · output_before_hash · output_after_hash · intervention_timestamp · reviewer_role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C96A5"/>
                </a:solidFill>
                <a:latin typeface="Segoe UI"/>
              </a:rPr>
              <a:t>Вредности поља action_type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175504"/>
            <a:ext cx="24277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303520"/>
            <a:ext cx="24277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5496"/>
                </a:solidFill>
                <a:latin typeface="Consolas"/>
              </a:rPr>
              <a:t>approved  </a:t>
            </a:r>
            <a:r>
              <a:rPr sz="1200">
                <a:solidFill>
                  <a:srgbClr val="5A5A5A"/>
                </a:solidFill>
                <a:latin typeface="Segoe UI"/>
              </a:rPr>
              <a:t>одобрено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51860" y="5175504"/>
            <a:ext cx="24277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51860" y="5303520"/>
            <a:ext cx="24277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5496"/>
                </a:solidFill>
                <a:latin typeface="Consolas"/>
              </a:rPr>
              <a:t>rejected  </a:t>
            </a:r>
            <a:r>
              <a:rPr sz="1200">
                <a:solidFill>
                  <a:srgbClr val="5A5A5A"/>
                </a:solidFill>
                <a:latin typeface="Segoe UI"/>
              </a:rPr>
              <a:t>одбијено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5175504"/>
            <a:ext cx="24277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5303520"/>
            <a:ext cx="24277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5496"/>
                </a:solidFill>
                <a:latin typeface="Consolas"/>
              </a:rPr>
              <a:t>edited  </a:t>
            </a:r>
            <a:r>
              <a:rPr sz="1200">
                <a:solidFill>
                  <a:srgbClr val="5A5A5A"/>
                </a:solidFill>
                <a:latin typeface="Segoe UI"/>
              </a:rPr>
              <a:t>измењено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09660" y="5175504"/>
            <a:ext cx="2427732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09660" y="5303520"/>
            <a:ext cx="2427732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2F5496"/>
                </a:solidFill>
                <a:latin typeface="Consolas"/>
              </a:rPr>
              <a:t>escalated  </a:t>
            </a:r>
            <a:r>
              <a:rPr sz="1200">
                <a:solidFill>
                  <a:srgbClr val="5A5A5A"/>
                </a:solidFill>
                <a:latin typeface="Segoe UI"/>
              </a:rPr>
              <a:t>ескалирано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Свако поље показује на свој члан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Иста мапа, овде примењена на стварни запис, аутоматски излази и као извештај о усклађености.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691640"/>
          <a:ext cx="4200000" cy="17404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Поље протокола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Клаузула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timestamp_start, timestamp_end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12(3)(a)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model_id, model_version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12(2)(b), 14(4)(a)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output_before_hash, output_after_hash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14(4)(c), 14(4)(d)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Picture 11" descr="compliance_report_recor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240" y="1691640"/>
            <a:ext cx="5302530" cy="4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Запис чува хеш, пакет чува печат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5A5A5A"/>
                </a:solidFill>
                <a:latin typeface="Segoe UI"/>
              </a:rPr>
              <a:t>Пакет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доказује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структуру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извршавања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.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На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питање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шта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је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тачно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речено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одговара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садржај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из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складишта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,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који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мора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дати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исти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хеш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10607040" cy="11430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737360"/>
            <a:ext cx="68580" cy="1143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883664"/>
            <a:ext cx="9875519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D4C"/>
                </a:solidFill>
                <a:latin typeface="Segoe UI"/>
              </a:rPr>
              <a:t>Запис носи SHA-256 хеш улаза и излаза, док сам текст остаје у складишту окружења, што одговара начелу минимизације података.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099815"/>
            <a:ext cx="10607040" cy="11430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3099815"/>
            <a:ext cx="68580" cy="1143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246120"/>
            <a:ext cx="9875519" cy="850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D4C"/>
                </a:solidFill>
                <a:latin typeface="Segoe UI"/>
              </a:rPr>
              <a:t>Печат bundle_hash рачуна се над каноничким JSON обликом према стандарду RFC 8785, па га сваки независни верификатор репродукује бајт по бајт.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62272"/>
            <a:ext cx="10607040" cy="1143000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4462272"/>
            <a:ext cx="68580" cy="114300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4753470"/>
            <a:ext cx="9875519" cy="5606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333D4C"/>
                </a:solidFill>
                <a:latin typeface="Segoe UI"/>
              </a:rPr>
              <a:t>Измена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једног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бајта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после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печаћења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мења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печат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провера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lang="sr-Cyrl-RS" sz="1500" dirty="0">
                <a:solidFill>
                  <a:srgbClr val="333D4C"/>
                </a:solidFill>
                <a:latin typeface="Segoe UI"/>
              </a:rPr>
              <a:t>не пролази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и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пре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него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што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се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ишта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пореди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са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изворним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333D4C"/>
                </a:solidFill>
                <a:latin typeface="Segoe UI"/>
              </a:rPr>
              <a:t>садржајем</a:t>
            </a:r>
            <a:r>
              <a:rPr sz="1500" b="0" i="0" dirty="0">
                <a:solidFill>
                  <a:srgbClr val="333D4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Из чега се састоји имплементација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>
                <a:solidFill>
                  <a:srgbClr val="5A5A5A"/>
                </a:solidFill>
                <a:latin typeface="Segoe UI"/>
              </a:rPr>
              <a:t>Плаво су обавезна три реда инсталације, наранџасто опциони додаци укључени само по потреби. Језгро не зависи ни од једног оквира и има само две зависности.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9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008287" y="1692000"/>
          <a:ext cx="7374913" cy="367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24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Део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Шта ради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4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језгро</a:t>
                      </a:r>
                    </a:p>
                  </a:txBody>
                  <a:tcPr marL="118872" marR="118872" anchor="ctr"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шеме, прављење записа, валидација и печат</a:t>
                      </a:r>
                    </a:p>
                  </a:txBody>
                  <a:tcPr marL="118872" marR="118872" anchor="ctr">
                    <a:solidFill>
                      <a:srgbClr val="DC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verify</a:t>
                      </a:r>
                    </a:p>
                  </a:txBody>
                  <a:tcPr marL="118872" marR="118872" anchor="ctr"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независна провера пакета, свој позив из командне линије</a:t>
                      </a:r>
                    </a:p>
                  </a:txBody>
                  <a:tcPr marL="118872" marR="118872" anchor="ctr">
                    <a:solidFill>
                      <a:srgbClr val="DC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4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persistence</a:t>
                      </a:r>
                    </a:p>
                  </a:txBody>
                  <a:tcPr marL="118872" marR="118872" anchor="ctr">
                    <a:solidFill>
                      <a:srgbClr val="DCE6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дневник који преживљава пад процеса</a:t>
                      </a:r>
                    </a:p>
                  </a:txBody>
                  <a:tcPr marL="118872" marR="118872" anchor="ctr">
                    <a:solidFill>
                      <a:srgbClr val="DC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4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adapters</a:t>
                      </a:r>
                    </a:p>
                  </a:txBody>
                  <a:tcPr marL="118872" marR="11887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међуслој за LangGraph, опциони додатак</a:t>
                      </a:r>
                    </a:p>
                  </a:txBody>
                  <a:tcPr marL="118872" marR="118872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4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signing</a:t>
                      </a:r>
                    </a:p>
                  </a:txBody>
                  <a:tcPr marL="118872" marR="11887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Ed25519 потпис преко печата, опциони додатак</a:t>
                      </a:r>
                    </a:p>
                  </a:txBody>
                  <a:tcPr marL="118872" marR="118872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4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Consolas"/>
                        </a:rPr>
                        <a:t>reporting</a:t>
                      </a:r>
                    </a:p>
                  </a:txBody>
                  <a:tcPr marL="118872" marR="11887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извештај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о </a:t>
                      </a:r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усклађености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у PDF-у, </a:t>
                      </a:r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опциони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додатак</a:t>
                      </a:r>
                      <a:endParaRPr sz="1250" b="0" dirty="0">
                        <a:solidFill>
                          <a:srgbClr val="333D4C"/>
                        </a:solidFill>
                        <a:latin typeface="Segoe UI"/>
                      </a:endParaRPr>
                    </a:p>
                  </a:txBody>
                  <a:tcPr marL="118872" marR="118872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Picture 11" descr="struktura_paket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0" y="1692000"/>
            <a:ext cx="2834687" cy="3675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58687" y="5505200"/>
            <a:ext cx="8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 dirty="0" err="1">
                <a:solidFill>
                  <a:srgbClr val="2F5496"/>
                </a:solidFill>
                <a:latin typeface="Segoe UI"/>
              </a:rPr>
              <a:t>Легенда</a:t>
            </a:r>
            <a:r>
              <a:rPr sz="1100" b="1" dirty="0">
                <a:solidFill>
                  <a:srgbClr val="2F5496"/>
                </a:solidFill>
                <a:latin typeface="Segoe UI"/>
              </a:rPr>
              <a:t>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38687" y="5505200"/>
            <a:ext cx="240000" cy="240000"/>
          </a:xfrm>
          <a:prstGeom prst="rect">
            <a:avLst/>
          </a:prstGeom>
          <a:solidFill>
            <a:srgbClr val="DCE6F5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687" y="5540561"/>
            <a:ext cx="554639" cy="1692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lang="sr-Cyrl-RS" sz="1100" b="0" dirty="0">
                <a:solidFill>
                  <a:srgbClr val="5A5A5A"/>
                </a:solidFill>
                <a:latin typeface="Segoe UI"/>
              </a:rPr>
              <a:t>основно</a:t>
            </a:r>
            <a:endParaRPr sz="1100" b="0" dirty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488687" y="5505200"/>
            <a:ext cx="240000" cy="240000"/>
          </a:xfrm>
          <a:prstGeom prst="rect">
            <a:avLst/>
          </a:prstGeom>
          <a:solidFill>
            <a:srgbClr val="FCE4D6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8687" y="5505200"/>
            <a:ext cx="700000" cy="24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  <a:latin typeface="Segoe UI"/>
              </a:rPr>
              <a:t>опционо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Инструментација стаје у седам линија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19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5A5A5A"/>
                </a:solidFill>
                <a:latin typeface="Segoe UI"/>
              </a:rPr>
              <a:t>Логика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чворова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остаје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нетакнута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.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Сваки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нови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аутоматизовани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чвор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lang="sr-Cyrl-RS" sz="1200" dirty="0">
                <a:solidFill>
                  <a:srgbClr val="5A5A5A"/>
                </a:solidFill>
                <a:latin typeface="Segoe UI"/>
              </a:rPr>
              <a:t>"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хвата</a:t>
            </a:r>
            <a:r>
              <a:rPr lang="sr-Cyrl-RS" sz="1200" b="0" i="0" dirty="0">
                <a:solidFill>
                  <a:srgbClr val="5A5A5A"/>
                </a:solidFill>
                <a:latin typeface="Segoe UI"/>
              </a:rPr>
              <a:t>"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без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иједне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додатне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линије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737360"/>
            <a:ext cx="10607040" cy="3246120"/>
          </a:xfrm>
          <a:prstGeom prst="roundRect">
            <a:avLst>
              <a:gd name="adj" fmla="val 3000"/>
            </a:avLst>
          </a:prstGeom>
          <a:solidFill>
            <a:srgbClr val="F6F8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737360"/>
            <a:ext cx="64008" cy="3246120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993392"/>
            <a:ext cx="1005840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5496"/>
                </a:solidFill>
                <a:latin typeface="Consolas"/>
              </a:rPr>
              <a:t>from agent_prov.session import PipelineSession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5496"/>
                </a:solidFill>
                <a:latin typeface="Consolas"/>
              </a:rPr>
              <a:t>from agent_prov.adapters.langchain import ProvenanceMiddleware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F5496"/>
                </a:solidFill>
                <a:latin typeface="Consolas"/>
              </a:rPr>
              <a:t>from agent_prov.bundle_generator import BundleGenerator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52C36"/>
                </a:solidFill>
                <a:latin typeface="Consolas"/>
              </a:rPr>
              <a:t> 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52C36"/>
                </a:solidFill>
                <a:latin typeface="Consolas"/>
              </a:rPr>
              <a:t>session = PipelineSession(pipeline_id=PIPELINE_ID)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52C36"/>
                </a:solidFill>
                <a:latin typeface="Consolas"/>
              </a:rPr>
              <a:t>middleware = ProvenanceMiddleware(session)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52C36"/>
                </a:solidFill>
                <a:latin typeface="Consolas"/>
              </a:rPr>
              <a:t>graph.invoke(state, config={"callbacks": [middleware]})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52C36"/>
                </a:solidFill>
                <a:latin typeface="Consolas"/>
              </a:rPr>
              <a:t>BundleGenerator(session, disclosure_presented=True).to_file(path)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Запечаћен пакет и независна провера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1940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lang="ru-RU" sz="1200" dirty="0">
                <a:solidFill>
                  <a:srgbClr val="5A5A5A"/>
                </a:solidFill>
                <a:latin typeface="Segoe UI"/>
              </a:rPr>
              <a:t>Запечаћен пакет (лево) и независна провера истог пакета, пре и после измене једног поља (десно)</a:t>
            </a:r>
            <a:r>
              <a:rPr lang="en-US" sz="1200" dirty="0">
                <a:solidFill>
                  <a:srgbClr val="5A5A5A"/>
                </a:solidFill>
                <a:latin typeface="Segoe UI"/>
              </a:rPr>
              <a:t>.</a:t>
            </a:r>
            <a:endParaRPr sz="1200" b="0" i="0" dirty="0">
              <a:solidFill>
                <a:srgbClr val="5A5A5A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31517" y="1619978"/>
            <a:ext cx="6126000" cy="3918000"/>
          </a:xfrm>
          <a:prstGeom prst="rect">
            <a:avLst/>
          </a:prstGeom>
          <a:solidFill>
            <a:srgbClr val="F7F9FB"/>
          </a:solidFill>
          <a:ln w="9525">
            <a:solidFill>
              <a:srgbClr val="D3DAE4"/>
            </a:solidFill>
          </a:ln>
          <a:effectLst/>
        </p:spPr>
        <p:txBody>
          <a:bodyPr wrap="square" lIns="164592" tIns="109728" rIns="164592" bIns="109728" anchor="t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1517" y="1619978"/>
            <a:ext cx="6126000" cy="3918000"/>
          </a:xfrm>
          <a:prstGeom prst="rect">
            <a:avLst/>
          </a:prstGeom>
          <a:noFill/>
        </p:spPr>
        <p:txBody>
          <a:bodyPr wrap="square" lIns="164592" tIns="109728" rIns="164592" bIns="109728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{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"bundle_id": "b190715c-...-8fa3dd",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"protocol_version": "0.4.0",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"outcome": "completed",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7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"records": [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  { "record_type": "agent_step", "agent_id": "summarizer",</a:t>
            </a:r>
          </a:p>
          <a:p>
            <a:pPr>
              <a:lnSpc>
                <a:spcPct val="105000"/>
              </a:lnSpc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    </a:t>
            </a:r>
            <a:r>
              <a:rPr lang="sr-Latn-RS" sz="1100" b="1" dirty="0">
                <a:solidFill>
                  <a:srgbClr val="C0502E"/>
                </a:solidFill>
                <a:latin typeface="Consolas"/>
              </a:rPr>
              <a:t>"input_hash": "93b39fe5...c0be18a",</a:t>
            </a:r>
            <a:endParaRPr sz="1100" i="0" dirty="0">
              <a:solidFill>
                <a:srgbClr val="333D4C"/>
              </a:solidFill>
              <a:latin typeface="Consolas"/>
            </a:endParaRPr>
          </a:p>
          <a:p>
            <a:pPr>
              <a:lnSpc>
                <a:spcPct val="105000"/>
              </a:lnSpc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    </a:t>
            </a:r>
            <a:r>
              <a:rPr lang="sr-Latn-RS" sz="1100" b="1" dirty="0">
                <a:solidFill>
                  <a:srgbClr val="C0502E"/>
                </a:solidFill>
                <a:latin typeface="Consolas"/>
              </a:rPr>
              <a:t>"output_hash": "3deddf99...c983c986c" },</a:t>
            </a:r>
            <a:endParaRPr sz="1100" b="0" i="0" dirty="0">
              <a:solidFill>
                <a:srgbClr val="333D4C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7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  { "record_type": "human_intervention", "action_type": "edited",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C0502E"/>
                </a:solidFill>
                <a:latin typeface="Consolas"/>
              </a:rPr>
              <a:t>      "output_before_hash": "414effef...b5ffc7c",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C0502E"/>
                </a:solidFill>
                <a:latin typeface="Consolas"/>
              </a:rPr>
              <a:t>      "output_after_hash":  "1debe9d8...78e7c11"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7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  { "record_type": "agent_step", "agent_id": "finalizer", ... },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7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  { "record_type": "human_intervention", "action_type": "approved",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C0502E"/>
                </a:solidFill>
                <a:latin typeface="Consolas"/>
              </a:rPr>
              <a:t>      "output_before_hash": "1eab154d...86a09cd5",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C0502E"/>
                </a:solidFill>
                <a:latin typeface="Consolas"/>
              </a:rPr>
              <a:t>      "output_after_hash":  "1eab154d...86a09cd5" 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  ],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700" dirty="0"/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C0502E"/>
                </a:solidFill>
                <a:latin typeface="Consolas"/>
              </a:rPr>
              <a:t>  "bundle_hash": "b9b9acec...fb8abbd1"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333D4C"/>
                </a:solidFill>
                <a:latin typeface="Consolas"/>
              </a:rPr>
              <a:t>}</a:t>
            </a:r>
            <a:endParaRPr lang="en-US" sz="1100" b="0" i="0" dirty="0">
              <a:solidFill>
                <a:srgbClr val="333D4C"/>
              </a:solidFill>
              <a:latin typeface="Consolas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100" b="0" i="0" dirty="0">
              <a:solidFill>
                <a:srgbClr val="333D4C"/>
              </a:solidFill>
              <a:latin typeface="Consola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99CEF2B-E014-05CB-D8C8-EEE10FAC2BD7}"/>
              </a:ext>
            </a:extLst>
          </p:cNvPr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D117A14-842B-5E67-07F3-59256668E0D8}"/>
              </a:ext>
            </a:extLst>
          </p:cNvPr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F69EE14-8237-9B99-8703-C548348D36B6}"/>
              </a:ext>
            </a:extLst>
          </p:cNvPr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F8FA3EA-5C7D-76FE-5CE3-DE8ED23ECC94}"/>
              </a:ext>
            </a:extLst>
          </p:cNvPr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6BE66D-3277-AE4C-5C8E-E32F0EC3B422}"/>
              </a:ext>
            </a:extLst>
          </p:cNvPr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0" name="TextBox OK"/>
          <p:cNvSpPr txBox="1"/>
          <p:nvPr/>
        </p:nvSpPr>
        <p:spPr>
          <a:xfrm>
            <a:off x="7050000" y="1640302"/>
            <a:ext cx="44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r-Cyrl-RS" sz="1300" b="1" i="0" dirty="0">
                <a:solidFill>
                  <a:srgbClr val="2E7D4F"/>
                </a:solidFill>
                <a:latin typeface="Segoe UI"/>
              </a:rPr>
              <a:t>OK · валидан пакет</a:t>
            </a:r>
          </a:p>
        </p:txBody>
      </p:sp>
      <p:pic>
        <p:nvPicPr>
          <p:cNvPr id="21" name="Picture OK" descr="fig_verify.png"/>
          <p:cNvPicPr>
            <a:picLocks/>
          </p:cNvPicPr>
          <p:nvPr/>
        </p:nvPicPr>
        <p:blipFill>
          <a:blip r:embed="rId3"/>
          <a:srcRect l="1000" r="51000" b="50000"/>
          <a:stretch>
            <a:fillRect/>
          </a:stretch>
        </p:blipFill>
        <p:spPr>
          <a:xfrm>
            <a:off x="7050000" y="1970950"/>
            <a:ext cx="4400000" cy="988000"/>
          </a:xfrm>
          <a:prstGeom prst="rect">
            <a:avLst/>
          </a:prstGeom>
        </p:spPr>
      </p:pic>
      <p:sp>
        <p:nvSpPr>
          <p:cNvPr id="22" name="TextBox FAILED"/>
          <p:cNvSpPr txBox="1"/>
          <p:nvPr/>
        </p:nvSpPr>
        <p:spPr>
          <a:xfrm>
            <a:off x="7050000" y="3182224"/>
            <a:ext cx="470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sr-Cyrl-RS" sz="1300" b="1" i="0" dirty="0">
                <a:solidFill>
                  <a:srgbClr val="C0502E"/>
                </a:solidFill>
                <a:latin typeface="Segoe UI"/>
              </a:rPr>
              <a:t>FAILED · пакет измењен након печаћења</a:t>
            </a:r>
          </a:p>
        </p:txBody>
      </p:sp>
      <p:pic>
        <p:nvPicPr>
          <p:cNvPr id="23" name="Picture FAILED" descr="fig_verify.png"/>
          <p:cNvPicPr>
            <a:picLocks/>
          </p:cNvPicPr>
          <p:nvPr/>
        </p:nvPicPr>
        <p:blipFill>
          <a:blip r:embed="rId3"/>
          <a:srcRect l="51000" r="1000"/>
          <a:stretch>
            <a:fillRect/>
          </a:stretch>
        </p:blipFill>
        <p:spPr>
          <a:xfrm>
            <a:off x="7050000" y="3512872"/>
            <a:ext cx="4400000" cy="197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Двадесет једна клаузула, ниједна непокривена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dirty="0" err="1">
                <a:solidFill>
                  <a:srgbClr val="5A5A5A"/>
                </a:solidFill>
                <a:latin typeface="Segoe UI"/>
              </a:rPr>
              <a:t>Оцењене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су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техничке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тачке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које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могу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односити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на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низ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записа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.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Четири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ван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обима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су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обавезе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интерфејса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и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излазног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артефакта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,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свака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у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раду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5A5A5A"/>
                </a:solidFill>
                <a:latin typeface="Segoe UI"/>
              </a:rPr>
              <a:t>именована</a:t>
            </a:r>
            <a:r>
              <a:rPr sz="1200" b="0" i="0" dirty="0">
                <a:solidFill>
                  <a:srgbClr val="5A5A5A"/>
                </a:solidFill>
                <a:latin typeface="Segoe UI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45920"/>
            <a:ext cx="2468880" cy="13716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78308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F5496"/>
                </a:solidFill>
                <a:latin typeface="Segoe UI"/>
              </a:rPr>
              <a:t>14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покривене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645920"/>
            <a:ext cx="2468880" cy="13716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78308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C0502E"/>
                </a:solidFill>
                <a:latin typeface="Segoe UI"/>
              </a:rPr>
              <a:t>3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делимичне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45920"/>
            <a:ext cx="2468880" cy="13716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78308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8C96A5"/>
                </a:solidFill>
                <a:latin typeface="Segoe UI"/>
              </a:rPr>
              <a:t>4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ван обима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645920"/>
            <a:ext cx="2468880" cy="137160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0" y="1783080"/>
            <a:ext cx="24688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2E7D4F"/>
                </a:solidFill>
                <a:latin typeface="Segoe UI"/>
              </a:rPr>
              <a:t>0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непокривене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77240" y="3310128"/>
          <a:ext cx="10881360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Члан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Клаузуле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покривене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делимичне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ван обима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непокривене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Чл. 12, вођење евиденције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Чл. 14, људски надзор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Чл. 50, транспарентност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Segoe UI"/>
                        </a:rPr>
                        <a:t>Укупно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118872" marR="118872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Трошак слоја порекла је испод милисекунде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Стваран позив модела траје од неколико стотина милисекунди до неколико секунди. Према тој основи овај трошак се не примећује.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13</a:t>
            </a:r>
          </a:p>
        </p:txBody>
      </p:sp>
      <p:pic>
        <p:nvPicPr>
          <p:cNvPr id="11" name="Picture 10" descr="fig_overhe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59" y="1691640"/>
            <a:ext cx="6309360" cy="356976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818120" y="1783080"/>
            <a:ext cx="3566160" cy="105156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929384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496"/>
                </a:solidFill>
                <a:latin typeface="Segoe UI"/>
              </a:rPr>
              <a:t>0,24 ms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по кораку агента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044952"/>
            <a:ext cx="3566160" cy="105156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92440" y="3191256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496"/>
                </a:solidFill>
                <a:latin typeface="Segoe UI"/>
              </a:rPr>
              <a:t>0,37 ms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по људској интервенцији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306824"/>
            <a:ext cx="3566160" cy="1051560"/>
          </a:xfrm>
          <a:prstGeom prst="roundRect">
            <a:avLst>
              <a:gd name="adj" fmla="val 7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92440" y="445312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F5496"/>
                </a:solidFill>
                <a:latin typeface="Segoe UI"/>
              </a:rPr>
              <a:t>~800 B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50" b="0" i="0">
                <a:solidFill>
                  <a:srgbClr val="5A5A5A"/>
                </a:solidFill>
                <a:latin typeface="Segoe UI"/>
              </a:rPr>
              <a:t>по запису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У поређењу са најближим претходним радом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Ово није рангирање. PROV-AGENT оптимизује поновљивост научних токова, а овај протокол регулаторну усклађеност.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7240" y="1691640"/>
          <a:ext cx="10607039" cy="39044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Димензија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PROV-AGENT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/>
                        </a:rPr>
                        <a:t>Овај протокол</a:t>
                      </a:r>
                    </a:p>
                  </a:txBody>
                  <a:tcPr marL="118872" marR="118872" anchor="ctr">
                    <a:solidFill>
                      <a:srgbClr val="2F54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Кораци агента и позиви алата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Запис о људској интервенцији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Стање пре и после измене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output_before_hash / output_after_hash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Мапирање на Акт ЕУ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14 покривених, 3 делимичне, 0 непокривених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Хеширање које чува приватност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да, SHA-256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Печат интегритета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8C96A5"/>
                          </a:solidFill>
                          <a:latin typeface="Segoe UI"/>
                        </a:rPr>
                        <a:t>не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bundle_hash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(RFC 8785)</a:t>
                      </a:r>
                    </a:p>
                  </a:txBody>
                  <a:tcPr marL="118872" marR="118872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333D4C"/>
                          </a:solidFill>
                          <a:latin typeface="Segoe UI"/>
                        </a:rPr>
                        <a:t>Подршка за више оквира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F5496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LangGraph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+ </a:t>
                      </a:r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петља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без</a:t>
                      </a:r>
                      <a:r>
                        <a:rPr sz="1250" b="0" dirty="0">
                          <a:solidFill>
                            <a:srgbClr val="333D4C"/>
                          </a:solidFill>
                          <a:latin typeface="Segoe UI"/>
                        </a:rPr>
                        <a:t> </a:t>
                      </a:r>
                      <a:r>
                        <a:rPr sz="1250" b="0" dirty="0" err="1">
                          <a:solidFill>
                            <a:srgbClr val="333D4C"/>
                          </a:solidFill>
                          <a:latin typeface="Segoe UI"/>
                        </a:rPr>
                        <a:t>оквира</a:t>
                      </a:r>
                      <a:endParaRPr sz="1250" b="0" dirty="0">
                        <a:solidFill>
                          <a:srgbClr val="333D4C"/>
                        </a:solidFill>
                        <a:latin typeface="Segoe UI"/>
                      </a:endParaRPr>
                    </a:p>
                  </a:txBody>
                  <a:tcPr marL="118872" marR="11887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2800" b="1" i="0" dirty="0">
                <a:solidFill>
                  <a:srgbClr val="1F3864"/>
                </a:solidFill>
                <a:latin typeface="Segoe UI"/>
              </a:rPr>
              <a:t>Шта овај рад не тврди</a:t>
            </a:r>
            <a:endParaRPr sz="2800" b="1" i="0" dirty="0">
              <a:solidFill>
                <a:srgbClr val="1F3864"/>
              </a:solidFill>
              <a:latin typeface="Segoe U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5907024"/>
            <a:ext cx="96926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5A5A"/>
                </a:solidFill>
                <a:latin typeface="Segoe UI"/>
              </a:rPr>
              <a:t>Свака од ових граница у раду има именован следећи корак.</a:t>
            </a:r>
          </a:p>
        </p:txBody>
      </p:sp>
      <p:sp>
        <p:nvSpPr>
          <p:cNvPr id="5" name="Oval 4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627632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1627632"/>
            <a:ext cx="68580" cy="896112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1773936"/>
            <a:ext cx="9875519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333D4C"/>
                </a:solidFill>
                <a:latin typeface="Segoe UI"/>
              </a:rPr>
              <a:t>Печат и потпис постоје, али нема регистра који кључ везује за особу нити поузданог времена означавања.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60904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660904"/>
            <a:ext cx="68580" cy="896112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2807208"/>
            <a:ext cx="9875519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33D4C"/>
                </a:solidFill>
                <a:latin typeface="Segoe UI"/>
              </a:rPr>
              <a:t>Родитељски ланац бележи редослед, не стварну узрочност, што је тачно за секвенцијалне токове, али само приближно тачно за паралелне токове.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694176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694176"/>
            <a:ext cx="68580" cy="896112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3840480"/>
            <a:ext cx="9875519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333D4C"/>
                </a:solidFill>
                <a:latin typeface="Segoe UI"/>
              </a:rPr>
              <a:t>Тренутно постоји само један упакован адаптер (LangGraph).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727448"/>
            <a:ext cx="10607040" cy="896112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727448"/>
            <a:ext cx="68580" cy="896112"/>
          </a:xfrm>
          <a:prstGeom prst="rect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873752"/>
            <a:ext cx="9875519" cy="60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 err="1">
                <a:solidFill>
                  <a:srgbClr val="333D4C"/>
                </a:solidFill>
                <a:latin typeface="Segoe UI"/>
              </a:rPr>
              <a:t>Обавезе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које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живе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у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корисничком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интерфејсу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и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излазном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артефакту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препуштене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су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слојевима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који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их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 </a:t>
            </a:r>
            <a:r>
              <a:rPr sz="1400" b="0" i="0" dirty="0" err="1">
                <a:solidFill>
                  <a:srgbClr val="333D4C"/>
                </a:solidFill>
                <a:latin typeface="Segoe UI"/>
              </a:rPr>
              <a:t>поседују</a:t>
            </a:r>
            <a:r>
              <a:rPr sz="1400" b="0" i="0" dirty="0">
                <a:solidFill>
                  <a:srgbClr val="333D4C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11480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F3864"/>
                </a:solidFill>
                <a:latin typeface="Segoe UI"/>
              </a:rPr>
              <a:t>Три ствари за понети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04088" y="1243584"/>
            <a:ext cx="1051560" cy="4114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91088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164824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338560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12296" y="6419088"/>
            <a:ext cx="96012" cy="96012"/>
          </a:xfrm>
          <a:prstGeom prst="ellipse">
            <a:avLst/>
          </a:prstGeom>
          <a:solidFill>
            <a:srgbClr val="D3D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686032" y="6419088"/>
            <a:ext cx="96012" cy="96012"/>
          </a:xfrm>
          <a:prstGeom prst="ellipse">
            <a:avLst/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638251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C96A5"/>
                </a:solidFill>
                <a:latin typeface="Segoe U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0368"/>
            <a:ext cx="10607040" cy="841248"/>
          </a:xfrm>
          <a:prstGeom prst="roundRect">
            <a:avLst>
              <a:gd name="adj" fmla="val 5000"/>
            </a:avLst>
          </a:prstGeom>
          <a:solidFill>
            <a:srgbClr val="2F54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5431536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dirty="0" err="1">
                <a:solidFill>
                  <a:srgbClr val="FFFFFF"/>
                </a:solidFill>
                <a:latin typeface="Segoe UI"/>
              </a:rPr>
              <a:t>Хвала</a:t>
            </a:r>
            <a:r>
              <a:rPr sz="19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Segoe UI"/>
              </a:rPr>
              <a:t>на</a:t>
            </a:r>
            <a:r>
              <a:rPr sz="19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Segoe UI"/>
              </a:rPr>
              <a:t>пажњи</a:t>
            </a:r>
            <a:r>
              <a:rPr sz="1900" b="1" dirty="0">
                <a:solidFill>
                  <a:srgbClr val="FFFFFF"/>
                </a:solidFill>
                <a:latin typeface="Segoe UI"/>
              </a:rPr>
              <a:t>.</a:t>
            </a:r>
            <a:r>
              <a:rPr sz="1400" dirty="0">
                <a:solidFill>
                  <a:srgbClr val="C5D2E8"/>
                </a:solidFill>
                <a:latin typeface="Consolas"/>
              </a:rPr>
              <a:t>     github.com/</a:t>
            </a:r>
            <a:r>
              <a:rPr sz="1400" dirty="0" err="1">
                <a:solidFill>
                  <a:srgbClr val="C5D2E8"/>
                </a:solidFill>
                <a:latin typeface="Consolas"/>
              </a:rPr>
              <a:t>jokicjovan</a:t>
            </a:r>
            <a:r>
              <a:rPr sz="1400" dirty="0">
                <a:solidFill>
                  <a:srgbClr val="C5D2E8"/>
                </a:solidFill>
                <a:latin typeface="Consolas"/>
              </a:rPr>
              <a:t>/agent-prov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645920"/>
            <a:ext cx="10607040" cy="1024128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1645920"/>
            <a:ext cx="68580" cy="102412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1901952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5496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1792224"/>
            <a:ext cx="914399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333D4C"/>
                </a:solidFill>
                <a:latin typeface="Segoe UI"/>
              </a:rPr>
              <a:t>Људски надзор је сада првокласан тип записа, са сопственом шемом и доказом стања пре и после одлуке.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52928"/>
            <a:ext cx="10607040" cy="1024128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2852928"/>
            <a:ext cx="68580" cy="102412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310896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5496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2999232"/>
            <a:ext cx="914399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D4C"/>
                </a:solidFill>
                <a:latin typeface="Segoe UI"/>
              </a:rPr>
              <a:t>Свако поље релевантно за усклађеност показује на клаузулу коју испуњава.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59936"/>
            <a:ext cx="10607040" cy="1024128"/>
          </a:xfrm>
          <a:prstGeom prst="roundRect">
            <a:avLst>
              <a:gd name="adj" fmla="val 5000"/>
            </a:avLst>
          </a:prstGeom>
          <a:solidFill>
            <a:srgbClr val="F7F9FB"/>
          </a:solidFill>
          <a:ln w="12700">
            <a:solidFill>
              <a:srgbClr val="D6DE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77240" y="4059936"/>
            <a:ext cx="68580" cy="1024128"/>
          </a:xfrm>
          <a:prstGeom prst="rect">
            <a:avLst/>
          </a:prstGeom>
          <a:solidFill>
            <a:srgbClr val="C05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109728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31596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F5496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206240"/>
            <a:ext cx="914399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333D4C"/>
                </a:solidFill>
                <a:latin typeface="Segoe UI"/>
              </a:rPr>
              <a:t>Цена је испод милисекунде и око осамсто бајтова по запису.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3622</TotalTime>
  <Words>2471</Words>
  <Application>Microsoft Office PowerPoint</Application>
  <PresentationFormat>Widescreen</PresentationFormat>
  <Paragraphs>295</Paragraphs>
  <Slides>16</Slides>
  <Notes>16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Jovan Jokić</cp:lastModifiedBy>
  <cp:revision>382</cp:revision>
  <dcterms:created xsi:type="dcterms:W3CDTF">2013-01-27T09:14:16Z</dcterms:created>
  <dcterms:modified xsi:type="dcterms:W3CDTF">2026-09-11T09:21:50Z</dcterms:modified>
  <cp:category/>
</cp:coreProperties>
</file>